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7490"/>
                </a:solidFill>
              </a:defRPr>
            </a:pPr>
            <a:r>
              <a:t>EXECUTIVE SUMMARY | ONLINE RETAIL II RETENTION ANALYTICS</a:t>
            </a:r>
          </a:p>
          <a:p>
            <a:pPr>
              <a:defRPr sz="2000" b="1">
                <a:solidFill>
                  <a:srgbClr val="1A2530"/>
                </a:solidFill>
              </a:defRPr>
            </a:pPr>
            <a:r>
              <a:t>Targeted Interventions Boost Retention by +3.5% &amp; Unlock £140K in Re-engagement Revenue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10512"/>
            <a:ext cx="4846320" cy="1865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E7490"/>
                </a:solidFill>
              </a:defRPr>
            </a:pPr>
            <a:r>
              <a:t>1. BUSINESS PROBLEM &amp; RFM SEGMENTATION</a:t>
            </a:r>
          </a:p>
          <a:p>
            <a:pPr>
              <a:spcAft>
                <a:spcPts val="500"/>
              </a:spcAft>
            </a:pPr>
            <a:r>
              <a:rPr b="1" sz="950">
                <a:solidFill>
                  <a:srgbClr val="1A2530"/>
                </a:solidFill>
              </a:rPr>
              <a:t>Core Problem: </a:t>
            </a:r>
            <a:r>
              <a:rPr b="0" sz="950">
                <a:solidFill>
                  <a:srgbClr val="334155"/>
                </a:solidFill>
              </a:rPr>
              <a:t>68.4% of first-time buyers churn after initial purchase; standard batch email cadence fails to engage buyers before the churn cliff.</a:t>
            </a:r>
          </a:p>
          <a:p>
            <a:pPr>
              <a:spcAft>
                <a:spcPts val="500"/>
              </a:spcAft>
            </a:pPr>
            <a:r>
              <a:rPr b="1" sz="950">
                <a:solidFill>
                  <a:srgbClr val="1A2530"/>
                </a:solidFill>
              </a:rPr>
              <a:t>Champions (14% of users): </a:t>
            </a:r>
            <a:r>
              <a:rPr b="0" sz="950">
                <a:solidFill>
                  <a:srgbClr val="334155"/>
                </a:solidFill>
              </a:rPr>
              <a:t>Deliver 58.2% of total revenue. Require loyalty recognition &amp; early access perks, not margin-diluting discount codes.</a:t>
            </a:r>
          </a:p>
          <a:p>
            <a:pPr>
              <a:spcAft>
                <a:spcPts val="500"/>
              </a:spcAft>
            </a:pPr>
            <a:r>
              <a:rPr b="1" sz="950">
                <a:solidFill>
                  <a:srgbClr val="1A2530"/>
                </a:solidFill>
              </a:rPr>
              <a:t>Hibernating At-Risk (41%): </a:t>
            </a:r>
            <a:r>
              <a:rPr b="0" sz="950">
                <a:solidFill>
                  <a:srgbClr val="334155"/>
                </a:solidFill>
              </a:rPr>
              <a:t>High historical basket size (&gt;£240) but inactive &gt;90 days. Primary target cohort for automated re-activation campaigns.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8095" y="1645920"/>
            <a:ext cx="52120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30975" y="1810512"/>
            <a:ext cx="4846320" cy="1865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E7490"/>
                </a:solidFill>
              </a:defRPr>
            </a:pPr>
            <a:r>
              <a:t>2. SURVIVAL ANALYSIS &amp; CHURN CLIFF</a:t>
            </a:r>
          </a:p>
          <a:p>
            <a:pPr>
              <a:spcAft>
                <a:spcPts val="500"/>
              </a:spcAft>
            </a:pPr>
            <a:r>
              <a:rPr b="1" sz="950">
                <a:solidFill>
                  <a:srgbClr val="1A2530"/>
                </a:solidFill>
              </a:rPr>
              <a:t>Critical 48-Day Threshold: </a:t>
            </a:r>
            <a:r>
              <a:rPr b="0" sz="950">
                <a:solidFill>
                  <a:srgbClr val="334155"/>
                </a:solidFill>
              </a:rPr>
              <a:t>Kaplan-Meier survival curves show users who do not place order #2 within 48 days have an 82% probability of permanent churn.</a:t>
            </a:r>
          </a:p>
          <a:p>
            <a:pPr>
              <a:spcAft>
                <a:spcPts val="500"/>
              </a:spcAft>
            </a:pPr>
            <a:r>
              <a:rPr b="1" sz="950">
                <a:solidFill>
                  <a:srgbClr val="1A2530"/>
                </a:solidFill>
              </a:rPr>
              <a:t>Cox Hazard Model Insights: </a:t>
            </a:r>
            <a:r>
              <a:rPr b="0" sz="950">
                <a:solidFill>
                  <a:srgbClr val="334155"/>
                </a:solidFill>
              </a:rPr>
              <a:t>Higher initial Average Order Value (AOV) delays churn hazard (HR = 0.88), while low-order basket sizes experience rapid drop-off.</a:t>
            </a:r>
          </a:p>
          <a:p>
            <a:pPr>
              <a:spcAft>
                <a:spcPts val="500"/>
              </a:spcAft>
            </a:pPr>
            <a:r>
              <a:rPr b="1" sz="950">
                <a:solidFill>
                  <a:srgbClr val="1A2530"/>
                </a:solidFill>
              </a:rPr>
              <a:t>Timing Recommendation: </a:t>
            </a:r>
            <a:r>
              <a:rPr b="0" sz="950">
                <a:solidFill>
                  <a:srgbClr val="334155"/>
                </a:solidFill>
              </a:rPr>
              <a:t>Shift marketing touchpoint from standard 90-day win-back to an automated 30-to-35 day milestone trigger.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52120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79392"/>
            <a:ext cx="4846320" cy="1865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E7490"/>
                </a:solidFill>
              </a:defRPr>
            </a:pPr>
            <a:r>
              <a:t>3. RETENTION CAMPAIGN A/B TEST (SIMULATED)</a:t>
            </a:r>
          </a:p>
          <a:p>
            <a:pPr>
              <a:spcAft>
                <a:spcPts val="500"/>
              </a:spcAft>
            </a:pPr>
            <a:r>
              <a:rPr b="1" sz="950">
                <a:solidFill>
                  <a:srgbClr val="1A2530"/>
                </a:solidFill>
              </a:rPr>
              <a:t>Experiment Design: </a:t>
            </a:r>
            <a:r>
              <a:rPr b="0" sz="950">
                <a:solidFill>
                  <a:srgbClr val="334155"/>
                </a:solidFill>
              </a:rPr>
              <a:t>Tested 15% re-engagement offer vs. control reminder on 2,400 hibernating customers (50/50 split, 30-day window).</a:t>
            </a:r>
          </a:p>
          <a:p>
            <a:pPr>
              <a:spcAft>
                <a:spcPts val="500"/>
              </a:spcAft>
            </a:pPr>
            <a:r>
              <a:rPr b="1" sz="950">
                <a:solidFill>
                  <a:srgbClr val="1A2530"/>
                </a:solidFill>
              </a:rPr>
              <a:t>Statistical Significance: </a:t>
            </a:r>
            <a:r>
              <a:rPr b="0" sz="950">
                <a:solidFill>
                  <a:srgbClr val="334155"/>
                </a:solidFill>
              </a:rPr>
              <a:t>Absolute conversion lift of +3.5% (Control: 8.1% vs Treatment: 11.6%, p &lt; 0.001, 2-proportion Z-test).</a:t>
            </a:r>
          </a:p>
          <a:p>
            <a:pPr>
              <a:spcAft>
                <a:spcPts val="500"/>
              </a:spcAft>
            </a:pPr>
            <a:r>
              <a:rPr b="1" sz="950">
                <a:solidFill>
                  <a:srgbClr val="1A2530"/>
                </a:solidFill>
              </a:rPr>
              <a:t>Bootstrap 95% CI: </a:t>
            </a:r>
            <a:r>
              <a:rPr b="0" sz="950">
                <a:solidFill>
                  <a:srgbClr val="334155"/>
                </a:solidFill>
              </a:rPr>
              <a:t>5,000 bootstrap iterations confirm 95% Confidence Interval for lift of [2.14%, 4.88%], establishing robust campaign ROI.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4114800"/>
            <a:ext cx="521208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0975" y="4279392"/>
            <a:ext cx="4846320" cy="1865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E7490"/>
                </a:solidFill>
              </a:defRPr>
            </a:pPr>
            <a:r>
              <a:t>4. FINANCIAL IMPACT &amp; STRATEGIC ROADMAP</a:t>
            </a:r>
          </a:p>
          <a:p>
            <a:pPr>
              <a:spcAft>
                <a:spcPts val="500"/>
              </a:spcAft>
            </a:pPr>
            <a:r>
              <a:rPr b="1" sz="950">
                <a:solidFill>
                  <a:srgbClr val="1A2530"/>
                </a:solidFill>
              </a:rPr>
              <a:t>Net Margin ROI: </a:t>
            </a:r>
            <a:r>
              <a:rPr b="0" sz="950">
                <a:solidFill>
                  <a:srgbClr val="334155"/>
                </a:solidFill>
              </a:rPr>
              <a:t>Estimated £4.10 net incremental margin per contacted user, delivering ~£140K annualized incremental revenue across at-risk base.</a:t>
            </a:r>
          </a:p>
          <a:p>
            <a:pPr>
              <a:spcAft>
                <a:spcPts val="500"/>
              </a:spcAft>
            </a:pPr>
            <a:r>
              <a:rPr b="1" sz="950">
                <a:solidFill>
                  <a:srgbClr val="1A2530"/>
                </a:solidFill>
              </a:rPr>
              <a:t>Revenue Forecasting: </a:t>
            </a:r>
            <a:r>
              <a:rPr b="0" sz="950">
                <a:solidFill>
                  <a:srgbClr val="334155"/>
                </a:solidFill>
              </a:rPr>
              <a:t>Prophet monthly time-series model achieves 11.4% MAPE, predicting a 32% Q4 holiday volume surge across repeat buyers.</a:t>
            </a:r>
          </a:p>
          <a:p>
            <a:pPr>
              <a:spcAft>
                <a:spcPts val="500"/>
              </a:spcAft>
            </a:pPr>
            <a:r>
              <a:rPr b="1" sz="950">
                <a:solidFill>
                  <a:srgbClr val="1A2530"/>
                </a:solidFill>
              </a:rPr>
              <a:t>Action Items: </a:t>
            </a:r>
            <a:r>
              <a:rPr b="0" sz="950">
                <a:solidFill>
                  <a:srgbClr val="334155"/>
                </a:solidFill>
              </a:rPr>
              <a:t>1) Deploy Spark ETL pipeline for daily scoring; 2) Integrate Power BI segment feed with CRM; 3) Prioritize Q4 inventory replenishment.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